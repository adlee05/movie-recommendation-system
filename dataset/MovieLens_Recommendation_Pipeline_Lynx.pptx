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b5011c9-a7ba-0c38-6599-fa64b724e904}">
          <p14:sldIdLst>
            <p14:sldId id="256"/>
            <p14:sldId id="257"/>
          </p14:sldIdLst>
        </p14:section>
        <p14:section name="Pipeline" id="{5437236f-2348-5256-9b75-34a3af351888}">
          <p14:sldIdLst>
            <p14:sldId id="258"/>
            <p14:sldId id="259"/>
            <p14:sldId id="260"/>
          </p14:sldIdLst>
        </p14:section>
        <p14:section name="Results" id="{e77641b0-71f0-0ddb-ba7b-6ec0e9d0ab0d}">
          <p14:sldIdLst>
            <p14:sldId id="261"/>
            <p14:sldId id="262"/>
            <p14:sldId id="263"/>
          </p14:sldIdLst>
        </p14:section>
        <p14:section name="Wrap-up" id="{a89184af-7fca-1788-6357-a2328a361cb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11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11D"/>
                </a:solidFill>
                <a:latin typeface="+mn-lt"/>
              </a:rPr>
              <a:t>Macro-averaged metrics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 at 10 (%)</c:v>
                </c:pt>
              </c:strCache>
            </c:strRef>
          </c:tx>
          <c:spPr>
            <a:solidFill>
              <a:srgbClr val="7CB34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Precision@10</c:v>
                  </c:pt>
                  <c:pt idx="1">
                    <c:v>Recall@10</c:v>
                  </c:pt>
                  <c:pt idx="2">
                    <c:v>NDCG@10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1.32</c:v>
                </c:pt>
                <c:pt idx="2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7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1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9525" cap="flat">
              <a:solidFill>
                <a:srgbClr val="D3DA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36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recommendation pipeline on MovieLens 10M using HDFS, Pig, Spark MLlib ALS and 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from ingestion through to offline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Pig output counts matched the source: 10,000,054 ratings and 10,681 movies. Tab-separated, typed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stages. Hive's recommendation table and sample query were verified; the aggregate queries are not claimed as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20, 10 iterations, regularization 0.1, seed 42, nonnegative factors, cold-start drop. Candidate pool of 20 is a memory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0.7983; Precision, Recall and NDCG at 10 are 0.0084, 0.0132 and 0.0090 over 68,176 users with at least one relevant held-out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low under this setup. Compare against a popularity baseline and larger candidate pools before drawing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0.8225 came from the training log, 0.7983 from the later saved-model evaluation. Split provenance is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on the left, concrete follow-ups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working system, then the three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movielens.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Big data recommendation pipeline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movielens.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Big data recommendation pipeline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ark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movielens.</a:t>
            </a:r>
            <a:endParaRPr lang="en-US" sz="2000" dirty="0"/>
          </a:p>
        </p:txBody>
      </p:sp>
      <p:sp>
        <p:nvSpPr>
          <p:cNvPr id="5" name="Eyebrow dot"/>
          <p:cNvSpPr/>
          <p:nvPr/>
        </p:nvSpPr>
        <p:spPr>
          <a:xfrm>
            <a:off x="548640" y="182880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DATA PROJECT</a:t>
            </a:r>
            <a:endParaRPr lang="en-US" sz="1100" dirty="0"/>
          </a:p>
        </p:txBody>
      </p:sp>
      <p:sp>
        <p:nvSpPr>
          <p:cNvPr id="7" name="Deck title"/>
          <p:cNvSpPr txBox="1"/>
          <p:nvPr/>
        </p:nvSpPr>
        <p:spPr>
          <a:xfrm>
            <a:off x="548640" y="22402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MovieLens 10M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Pipeline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End-to-end movie recommendations with HDFS, Pig, Spark MLlib ALS and Hive.</a:t>
            </a:r>
            <a:endParaRPr lang="en-US" sz="1800" dirty="0"/>
          </a:p>
        </p:txBody>
      </p:sp>
      <p:sp>
        <p:nvSpPr>
          <p:cNvPr id="9" name="Date pill"/>
          <p:cNvSpPr/>
          <p:nvPr/>
        </p:nvSpPr>
        <p:spPr>
          <a:xfrm>
            <a:off x="548640" y="4937760"/>
            <a:ext cx="2468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9377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17 Oct 2026</a:t>
            </a:r>
            <a:endParaRPr lang="en-US" sz="1100" dirty="0"/>
          </a:p>
        </p:txBody>
      </p:sp>
      <p:sp>
        <p:nvSpPr>
          <p:cNvPr id="11" name="Hero stat 1"/>
          <p:cNvSpPr/>
          <p:nvPr/>
        </p:nvSpPr>
        <p:spPr>
          <a:xfrm>
            <a:off x="7863840" y="1371600"/>
            <a:ext cx="3749040" cy="1280160"/>
          </a:xfrm>
          <a:prstGeom prst="roundRect">
            <a:avLst>
              <a:gd name="adj" fmla="val 7143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554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10,000,054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ratings processed</a:t>
            </a:r>
            <a:endParaRPr lang="en-US" sz="1400" dirty="0"/>
          </a:p>
        </p:txBody>
      </p:sp>
      <p:sp>
        <p:nvSpPr>
          <p:cNvPr id="14" name="Hero stat 2"/>
          <p:cNvSpPr/>
          <p:nvPr/>
        </p:nvSpPr>
        <p:spPr>
          <a:xfrm>
            <a:off x="7863840" y="2880360"/>
            <a:ext cx="3749040" cy="1280160"/>
          </a:xfrm>
          <a:prstGeom prst="roundRect">
            <a:avLst>
              <a:gd name="adj" fmla="val 7143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698,742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recommendation rows</a:t>
            </a:r>
            <a:endParaRPr lang="en-US" sz="1400" dirty="0"/>
          </a:p>
        </p:txBody>
      </p:sp>
      <p:sp>
        <p:nvSpPr>
          <p:cNvPr id="17" name="Hero stat 3"/>
          <p:cNvSpPr/>
          <p:nvPr/>
        </p:nvSpPr>
        <p:spPr>
          <a:xfrm>
            <a:off x="7863840" y="4389120"/>
            <a:ext cx="3749040" cy="1280160"/>
          </a:xfrm>
          <a:prstGeom prst="roundRect">
            <a:avLst>
              <a:gd name="adj" fmla="val 7143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0.7983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 RMSE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pipeline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sets out to do</a:t>
            </a:r>
            <a:endParaRPr lang="en-US" sz="3000" dirty="0"/>
          </a:p>
        </p:txBody>
      </p:sp>
      <p:sp>
        <p:nvSpPr>
          <p:cNvPr id="5" name="Objective card 01"/>
          <p:cNvSpPr/>
          <p:nvPr/>
        </p:nvSpPr>
        <p:spPr>
          <a:xfrm>
            <a:off x="548640" y="169164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and process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Source data lives in HDFS and is handled with a distributed workflow</a:t>
            </a:r>
            <a:endParaRPr lang="en-US" sz="1400" dirty="0"/>
          </a:p>
        </p:txBody>
      </p:sp>
      <p:sp>
        <p:nvSpPr>
          <p:cNvPr id="9" name="Objective card 02"/>
          <p:cNvSpPr/>
          <p:nvPr/>
        </p:nvSpPr>
        <p:spPr>
          <a:xfrm>
            <a:off x="4336999" y="169164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1319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11319" y="242316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1319" y="278892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Normalize ratings and movie metadata before model training</a:t>
            </a:r>
            <a:endParaRPr lang="en-US" sz="1400" dirty="0"/>
          </a:p>
        </p:txBody>
      </p:sp>
      <p:sp>
        <p:nvSpPr>
          <p:cNvPr id="13" name="Objective card 03"/>
          <p:cNvSpPr/>
          <p:nvPr/>
        </p:nvSpPr>
        <p:spPr>
          <a:xfrm>
            <a:off x="8125358" y="169164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99678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99678" y="242316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99678" y="278892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ALS collaborative filtering on user–movie ratings</a:t>
            </a:r>
            <a:endParaRPr lang="en-US" sz="1400" dirty="0"/>
          </a:p>
        </p:txBody>
      </p:sp>
      <p:sp>
        <p:nvSpPr>
          <p:cNvPr id="17" name="Objective card 04"/>
          <p:cNvSpPr/>
          <p:nvPr/>
        </p:nvSpPr>
        <p:spPr>
          <a:xfrm>
            <a:off x="548640" y="388620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Up to ten unseen movies per user, with titles and genres</a:t>
            </a:r>
            <a:endParaRPr lang="en-US" sz="1400" dirty="0"/>
          </a:p>
        </p:txBody>
      </p:sp>
      <p:sp>
        <p:nvSpPr>
          <p:cNvPr id="21" name="Objective card 05"/>
          <p:cNvSpPr/>
          <p:nvPr/>
        </p:nvSpPr>
        <p:spPr>
          <a:xfrm>
            <a:off x="4336999" y="388620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611319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11319" y="461772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11319" y="498348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Recommendation output exposed as a Hive external table</a:t>
            </a:r>
            <a:endParaRPr lang="en-US" sz="1400" dirty="0"/>
          </a:p>
        </p:txBody>
      </p:sp>
      <p:sp>
        <p:nvSpPr>
          <p:cNvPr id="25" name="Objective card 06"/>
          <p:cNvSpPr/>
          <p:nvPr/>
        </p:nvSpPr>
        <p:spPr>
          <a:xfrm>
            <a:off x="8125358" y="3886200"/>
            <a:ext cx="3514039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99678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99678" y="4617720"/>
            <a:ext cx="2965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99678" y="498348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Rating prediction and top-N ranking on held-out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10M ratings,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cleaned and verified</a:t>
            </a:r>
            <a:endParaRPr lang="en-US" sz="3000" dirty="0"/>
          </a:p>
        </p:txBody>
      </p:sp>
      <p:sp>
        <p:nvSpPr>
          <p:cNvPr id="5" name="Stat card 1"/>
          <p:cNvSpPr/>
          <p:nvPr/>
        </p:nvSpPr>
        <p:spPr>
          <a:xfrm>
            <a:off x="548640" y="1691640"/>
            <a:ext cx="3514039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10,000,054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clean ratings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4336999" y="1691640"/>
            <a:ext cx="3514039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1319" y="192024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10,681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11319" y="274320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clean movies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8125358" y="1691640"/>
            <a:ext cx="3514039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99678" y="1920240"/>
            <a:ext cx="29653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698,742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99678" y="2743200"/>
            <a:ext cx="2965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recommendation rows</a:t>
            </a:r>
            <a:endParaRPr lang="en-US" sz="1400" dirty="0"/>
          </a:p>
        </p:txBody>
      </p:sp>
      <p:sp>
        <p:nvSpPr>
          <p:cNvPr id="14" name="File card 1"/>
          <p:cNvSpPr/>
          <p:nvPr/>
        </p:nvSpPr>
        <p:spPr>
          <a:xfrm>
            <a:off x="548640" y="3703320"/>
            <a:ext cx="3514039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File pill 1"/>
          <p:cNvSpPr/>
          <p:nvPr/>
        </p:nvSpPr>
        <p:spPr>
          <a:xfrm>
            <a:off x="822960" y="397764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ratings.dat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9653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User ID, movie ID, rating and Unix timestamp</a:t>
            </a:r>
            <a:endParaRPr lang="en-US" sz="1400" dirty="0"/>
          </a:p>
        </p:txBody>
      </p:sp>
      <p:sp>
        <p:nvSpPr>
          <p:cNvPr id="18" name="File card 2"/>
          <p:cNvSpPr/>
          <p:nvPr/>
        </p:nvSpPr>
        <p:spPr>
          <a:xfrm>
            <a:off x="4336999" y="3703320"/>
            <a:ext cx="3514039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File pill 2"/>
          <p:cNvSpPr/>
          <p:nvPr/>
        </p:nvSpPr>
        <p:spPr>
          <a:xfrm>
            <a:off x="4611319" y="397764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1319" y="3977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movies.dat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11319" y="4572000"/>
            <a:ext cx="29653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Movie ID, title and genre string</a:t>
            </a:r>
            <a:endParaRPr lang="en-US" sz="1400" dirty="0"/>
          </a:p>
        </p:txBody>
      </p:sp>
      <p:sp>
        <p:nvSpPr>
          <p:cNvPr id="22" name="File card 3"/>
          <p:cNvSpPr/>
          <p:nvPr/>
        </p:nvSpPr>
        <p:spPr>
          <a:xfrm>
            <a:off x="8125358" y="3703320"/>
            <a:ext cx="3514039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File pill 3"/>
          <p:cNvSpPr/>
          <p:nvPr/>
        </p:nvSpPr>
        <p:spPr>
          <a:xfrm>
            <a:off x="8399678" y="397764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99678" y="3977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tags.dat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99678" y="4572000"/>
            <a:ext cx="29653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Ingested into HDFS but not used by the current jobs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Pipeline stages and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tools</a:t>
            </a:r>
            <a:endParaRPr lang="en-US" sz="3000" dirty="0"/>
          </a:p>
        </p:txBody>
      </p:sp>
      <p:sp>
        <p:nvSpPr>
          <p:cNvPr id="5" name="Stage row 1"/>
          <p:cNvSpPr/>
          <p:nvPr/>
        </p:nvSpPr>
        <p:spPr>
          <a:xfrm>
            <a:off x="548640" y="164592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tage icon 1 circle"/>
          <p:cNvSpPr/>
          <p:nvPr/>
        </p:nvSpPr>
        <p:spPr>
          <a:xfrm>
            <a:off x="731520" y="17282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tag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51660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645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ingestion</a:t>
            </a:r>
            <a:endParaRPr lang="en-US" sz="1500" dirty="0"/>
          </a:p>
        </p:txBody>
      </p:sp>
      <p:sp>
        <p:nvSpPr>
          <p:cNvPr id="9" name="Tool pill 1"/>
          <p:cNvSpPr/>
          <p:nvPr/>
        </p:nvSpPr>
        <p:spPr>
          <a:xfrm>
            <a:off x="4114800" y="179222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0" y="1792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6459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Raw dataset files placed under /movielens/raw/</a:t>
            </a:r>
            <a:endParaRPr lang="en-US" sz="1400" dirty="0"/>
          </a:p>
        </p:txBody>
      </p:sp>
      <p:sp>
        <p:nvSpPr>
          <p:cNvPr id="12" name="Stage row 2"/>
          <p:cNvSpPr/>
          <p:nvPr/>
        </p:nvSpPr>
        <p:spPr>
          <a:xfrm>
            <a:off x="548640" y="237744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age icon 2 circle"/>
          <p:cNvSpPr/>
          <p:nvPr/>
        </p:nvSpPr>
        <p:spPr>
          <a:xfrm>
            <a:off x="731520" y="24597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ag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583180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3774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Pig ETL</a:t>
            </a:r>
            <a:endParaRPr lang="en-US" sz="1500" dirty="0"/>
          </a:p>
        </p:txBody>
      </p:sp>
      <p:sp>
        <p:nvSpPr>
          <p:cNvPr id="16" name="Tool pill 2"/>
          <p:cNvSpPr/>
          <p:nvPr/>
        </p:nvSpPr>
        <p:spPr>
          <a:xfrm>
            <a:off x="4114800" y="252374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114800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Pig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309360" y="23774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Validates IDs, ratings, timestamps and titles; writes typed TSV</a:t>
            </a:r>
            <a:endParaRPr lang="en-US" sz="1400" dirty="0"/>
          </a:p>
        </p:txBody>
      </p:sp>
      <p:sp>
        <p:nvSpPr>
          <p:cNvPr id="19" name="Stage row 3"/>
          <p:cNvSpPr/>
          <p:nvPr/>
        </p:nvSpPr>
        <p:spPr>
          <a:xfrm>
            <a:off x="548640" y="310896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tage icon 3 circle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Stag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314700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17320" y="31089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Hive tables</a:t>
            </a:r>
            <a:endParaRPr lang="en-US" sz="1500" dirty="0"/>
          </a:p>
        </p:txBody>
      </p:sp>
      <p:sp>
        <p:nvSpPr>
          <p:cNvPr id="23" name="Tool pill 3"/>
          <p:cNvSpPr/>
          <p:nvPr/>
        </p:nvSpPr>
        <p:spPr>
          <a:xfrm>
            <a:off x="4114800" y="325526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11480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Hive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31089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External tables over clean ratings, movies and recommendations</a:t>
            </a:r>
            <a:endParaRPr lang="en-US" sz="1400" dirty="0"/>
          </a:p>
        </p:txBody>
      </p:sp>
      <p:sp>
        <p:nvSpPr>
          <p:cNvPr id="26" name="Stage row 4"/>
          <p:cNvSpPr/>
          <p:nvPr/>
        </p:nvSpPr>
        <p:spPr>
          <a:xfrm>
            <a:off x="548640" y="384048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tage icon 4 circle"/>
          <p:cNvSpPr/>
          <p:nvPr/>
        </p:nvSpPr>
        <p:spPr>
          <a:xfrm>
            <a:off x="731520" y="39227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Stag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046220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17320" y="3840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training</a:t>
            </a:r>
            <a:endParaRPr lang="en-US" sz="1500" dirty="0"/>
          </a:p>
        </p:txBody>
      </p:sp>
      <p:sp>
        <p:nvSpPr>
          <p:cNvPr id="30" name="Tool pill 4"/>
          <p:cNvSpPr/>
          <p:nvPr/>
        </p:nvSpPr>
        <p:spPr>
          <a:xfrm>
            <a:off x="4114800" y="398678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114800" y="39867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MLlib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6309360" y="38404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Seeded 80/20 split; model saved to /movielens/models/als_v1</a:t>
            </a:r>
            <a:endParaRPr lang="en-US" sz="1400" dirty="0"/>
          </a:p>
        </p:txBody>
      </p:sp>
      <p:sp>
        <p:nvSpPr>
          <p:cNvPr id="33" name="Stage row 5"/>
          <p:cNvSpPr/>
          <p:nvPr/>
        </p:nvSpPr>
        <p:spPr>
          <a:xfrm>
            <a:off x="548640" y="457200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tage icon 5 circle"/>
          <p:cNvSpPr/>
          <p:nvPr/>
        </p:nvSpPr>
        <p:spPr>
          <a:xfrm>
            <a:off x="731520" y="46542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tag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777740"/>
            <a:ext cx="210312" cy="2103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417320" y="4572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Top-N generation</a:t>
            </a:r>
            <a:endParaRPr lang="en-US" sz="1500" dirty="0"/>
          </a:p>
        </p:txBody>
      </p:sp>
      <p:sp>
        <p:nvSpPr>
          <p:cNvPr id="37" name="Tool pill 5"/>
          <p:cNvSpPr/>
          <p:nvPr/>
        </p:nvSpPr>
        <p:spPr>
          <a:xfrm>
            <a:off x="4114800" y="471830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114800" y="47183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309360" y="45720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 candidates per user, seen movies removed, up to ten kept</a:t>
            </a:r>
            <a:endParaRPr lang="en-US" sz="1400" dirty="0"/>
          </a:p>
        </p:txBody>
      </p:sp>
      <p:sp>
        <p:nvSpPr>
          <p:cNvPr id="40" name="Stage row 6"/>
          <p:cNvSpPr/>
          <p:nvPr/>
        </p:nvSpPr>
        <p:spPr>
          <a:xfrm>
            <a:off x="548640" y="530352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tage icon 6 circle"/>
          <p:cNvSpPr/>
          <p:nvPr/>
        </p:nvSpPr>
        <p:spPr>
          <a:xfrm>
            <a:off x="731520" y="5385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tage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5509260"/>
            <a:ext cx="210312" cy="21031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417320" y="53035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evaluation</a:t>
            </a:r>
            <a:endParaRPr lang="en-US" sz="1500" dirty="0"/>
          </a:p>
        </p:txBody>
      </p:sp>
      <p:sp>
        <p:nvSpPr>
          <p:cNvPr id="44" name="Tool pill 6"/>
          <p:cNvSpPr/>
          <p:nvPr/>
        </p:nvSpPr>
        <p:spPr>
          <a:xfrm>
            <a:off x="4114800" y="5449824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114800" y="5449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6309360" y="53035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RMSE and ranking metrics on a recreated holdout split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ALS model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configuration</a:t>
            </a:r>
            <a:endParaRPr lang="en-US" sz="3000" dirty="0"/>
          </a:p>
        </p:txBody>
      </p:sp>
      <p:graphicFrame>
        <p:nvGraphicFramePr>
          <p:cNvPr id="6" name="Confi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Factor rank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Maximum iterations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Regularization parameter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seed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Nonnegative factors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Enabled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Cold-start predictions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Dropped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Training / test split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80% / 20%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andidate pool card"/>
          <p:cNvSpPr/>
          <p:nvPr/>
        </p:nvSpPr>
        <p:spPr>
          <a:xfrm>
            <a:off x="7680960" y="1691640"/>
            <a:ext cx="3959352" cy="4096512"/>
          </a:xfrm>
          <a:prstGeom prst="roundRect">
            <a:avLst>
              <a:gd name="adj" fmla="val 230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TOP-N CANDIDATES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383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 user, to fit available local memory. Output is capped at ten after seen movies are removed, so some users receive fewer than 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Offline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evaluation</a:t>
            </a:r>
            <a:endParaRPr lang="en-US" sz="3000" dirty="0"/>
          </a:p>
        </p:txBody>
      </p:sp>
      <p:sp>
        <p:nvSpPr>
          <p:cNvPr id="5" name="Metric card 1"/>
          <p:cNvSpPr/>
          <p:nvPr/>
        </p:nvSpPr>
        <p:spPr>
          <a:xfrm>
            <a:off x="548640" y="1691640"/>
            <a:ext cx="2567178" cy="2788920"/>
          </a:xfrm>
          <a:prstGeom prst="roundRect">
            <a:avLst>
              <a:gd name="adj" fmla="val 3562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0.7983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0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RMSE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Error on held-out rating predictions</a:t>
            </a:r>
            <a:endParaRPr lang="en-US" sz="1400" dirty="0"/>
          </a:p>
        </p:txBody>
      </p:sp>
      <p:sp>
        <p:nvSpPr>
          <p:cNvPr id="9" name="Metric card 2"/>
          <p:cNvSpPr/>
          <p:nvPr/>
        </p:nvSpPr>
        <p:spPr>
          <a:xfrm>
            <a:off x="3390138" y="1691640"/>
            <a:ext cx="2567178" cy="278892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8738" y="192024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0.0084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18738" y="2697480"/>
            <a:ext cx="210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Precision@10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8738" y="310896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0.84% of top-ten slots matched a relevant movie</a:t>
            </a:r>
            <a:endParaRPr lang="en-US" sz="1400" dirty="0"/>
          </a:p>
        </p:txBody>
      </p:sp>
      <p:sp>
        <p:nvSpPr>
          <p:cNvPr id="13" name="Metric card 3"/>
          <p:cNvSpPr/>
          <p:nvPr/>
        </p:nvSpPr>
        <p:spPr>
          <a:xfrm>
            <a:off x="6231636" y="1691640"/>
            <a:ext cx="2567178" cy="278892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0236" y="192024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0.0132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2697480"/>
            <a:ext cx="210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60236" y="310896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1.32% of relevant movies appeared in the top ten</a:t>
            </a:r>
            <a:endParaRPr lang="en-US" sz="1400" dirty="0"/>
          </a:p>
        </p:txBody>
      </p:sp>
      <p:sp>
        <p:nvSpPr>
          <p:cNvPr id="17" name="Metric card 4"/>
          <p:cNvSpPr/>
          <p:nvPr/>
        </p:nvSpPr>
        <p:spPr>
          <a:xfrm>
            <a:off x="9073134" y="1691640"/>
            <a:ext cx="2567178" cy="278892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01734" y="192024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301734" y="2697480"/>
            <a:ext cx="210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NDCG@10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01734" y="310896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Rank-sensitive gain for relevant held-out movies</a:t>
            </a:r>
            <a:endParaRPr lang="en-US" sz="1400" dirty="0"/>
          </a:p>
        </p:txBody>
      </p:sp>
      <p:sp>
        <p:nvSpPr>
          <p:cNvPr id="21" name="Evaluation scope strip"/>
          <p:cNvSpPr/>
          <p:nvPr/>
        </p:nvSpPr>
        <p:spPr>
          <a:xfrm>
            <a:off x="548640" y="475488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SCOPE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68,176 users evaluated  ·  macro-averaged  ·  relevant = held-out rating of 4.0 or higher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Ranking quality is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low</a:t>
            </a:r>
            <a:endParaRPr lang="en-US" sz="3000" dirty="0"/>
          </a:p>
        </p:txBody>
      </p:sp>
      <p:sp>
        <p:nvSpPr>
          <p:cNvPr id="5" name="Chart card"/>
          <p:cNvSpPr/>
          <p:nvPr/>
        </p:nvSpPr>
        <p:spPr>
          <a:xfrm>
            <a:off x="548640" y="1691640"/>
            <a:ext cx="630936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182880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Why card"/>
          <p:cNvSpPr/>
          <p:nvPr/>
        </p:nvSpPr>
        <p:spPr>
          <a:xfrm>
            <a:off x="7132320" y="1691640"/>
            <a:ext cx="4507992" cy="4297680"/>
          </a:xfrm>
          <a:prstGeom prst="roundRect">
            <a:avLst>
              <a:gd name="adj" fmla="val 2128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SO MODEST</a:t>
            </a:r>
            <a:endParaRPr lang="en-US" sz="1100" dirty="0"/>
          </a:p>
        </p:txBody>
      </p:sp>
      <p:sp>
        <p:nvSpPr>
          <p:cNvPr id="9" name="Reason icon 1 circle"/>
          <p:cNvSpPr/>
          <p:nvPr/>
        </p:nvSpPr>
        <p:spPr>
          <a:xfrm>
            <a:off x="745236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ason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804" y="25466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38160" y="2423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Only 20 ALS candidates per user</a:t>
            </a:r>
            <a:endParaRPr lang="en-US" sz="1600" dirty="0"/>
          </a:p>
        </p:txBody>
      </p:sp>
      <p:sp>
        <p:nvSpPr>
          <p:cNvPr id="12" name="Reason icon 2 circle"/>
          <p:cNvSpPr/>
          <p:nvPr/>
        </p:nvSpPr>
        <p:spPr>
          <a:xfrm>
            <a:off x="745236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eason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4" y="341528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Seen movies removed before ranking</a:t>
            </a:r>
            <a:endParaRPr lang="en-US" sz="1600" dirty="0"/>
          </a:p>
        </p:txBody>
      </p:sp>
      <p:sp>
        <p:nvSpPr>
          <p:cNvPr id="15" name="Reason icon 3 circle"/>
          <p:cNvSpPr/>
          <p:nvPr/>
        </p:nvSpPr>
        <p:spPr>
          <a:xfrm>
            <a:off x="745236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eason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804" y="428396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4160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Strict relevance: rating of 4.0 or higher</a:t>
            </a:r>
            <a:endParaRPr lang="en-US" sz="1600" dirty="0"/>
          </a:p>
        </p:txBody>
      </p:sp>
      <p:sp>
        <p:nvSpPr>
          <p:cNvPr id="18" name="Reason icon 4 circle"/>
          <p:cNvSpPr/>
          <p:nvPr/>
        </p:nvSpPr>
        <p:spPr>
          <a:xfrm>
            <a:off x="745236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Reason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804" y="515264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3816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No popularity baseline yet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CAVEAT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RMSE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consistency note</a:t>
            </a:r>
            <a:endParaRPr lang="en-US" sz="3000" dirty="0"/>
          </a:p>
        </p:txBody>
      </p:sp>
      <p:sp>
        <p:nvSpPr>
          <p:cNvPr id="5" name="Training RMSE card"/>
          <p:cNvSpPr/>
          <p:nvPr/>
        </p:nvSpPr>
        <p:spPr>
          <a:xfrm>
            <a:off x="548640" y="1691640"/>
            <a:ext cx="51206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0.8225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RUN LOG</a:t>
            </a:r>
            <a:endParaRPr lang="en-US" sz="1200" dirty="0"/>
          </a:p>
        </p:txBody>
      </p:sp>
      <p:sp>
        <p:nvSpPr>
          <p:cNvPr id="8" name="Evaluation RMSE card"/>
          <p:cNvSpPr/>
          <p:nvPr/>
        </p:nvSpPr>
        <p:spPr>
          <a:xfrm>
            <a:off x="6519672" y="1691640"/>
            <a:ext cx="512064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39712" y="1920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0.7983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SAVED-MODEL EVALUATION</a:t>
            </a:r>
            <a:endParaRPr lang="en-US" sz="1200" dirty="0"/>
          </a:p>
        </p:txBody>
      </p:sp>
      <p:sp>
        <p:nvSpPr>
          <p:cNvPr id="11" name="Not equal badge"/>
          <p:cNvSpPr/>
          <p:nvPr/>
        </p:nvSpPr>
        <p:spPr>
          <a:xfrm>
            <a:off x="5669280" y="2395728"/>
            <a:ext cx="850392" cy="85039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2395728"/>
            <a:ext cx="850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</a:t>
            </a:r>
            <a:endParaRPr lang="en-US" sz="3000" dirty="0"/>
          </a:p>
        </p:txBody>
      </p:sp>
      <p:sp>
        <p:nvSpPr>
          <p:cNvPr id="13" name="Caveat card"/>
          <p:cNvSpPr/>
          <p:nvPr/>
        </p:nvSpPr>
        <p:spPr>
          <a:xfrm>
            <a:off x="548640" y="4114800"/>
            <a:ext cx="1109167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2976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two runs report different values, so they are not one result. The evaluation script recreates the 80/20 split with seed 42, but split and model correspondence was not verified. Use 0.7983 as the evaluation run's value, and persist the exact split to confirm reproducibility.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</a:t>
            </a:r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5" name="Limitations card"/>
          <p:cNvSpPr/>
          <p:nvPr/>
        </p:nvSpPr>
        <p:spPr>
          <a:xfrm>
            <a:off x="548640" y="1691640"/>
            <a:ext cx="5408676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7" name="Limit icon 1 circle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Limi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9232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Random split, not time-based</a:t>
            </a:r>
            <a:endParaRPr lang="en-US" sz="1600" dirty="0"/>
          </a:p>
        </p:txBody>
      </p:sp>
      <p:sp>
        <p:nvSpPr>
          <p:cNvPr id="10" name="Limit icon 2 circle"/>
          <p:cNvSpPr/>
          <p:nvPr/>
        </p:nvSpPr>
        <p:spPr>
          <a:xfrm>
            <a:off x="86868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imi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4610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Ratings only; tags unused</a:t>
            </a:r>
            <a:endParaRPr lang="en-US" sz="1600" dirty="0"/>
          </a:p>
        </p:txBody>
      </p:sp>
      <p:sp>
        <p:nvSpPr>
          <p:cNvPr id="13" name="Limit icon 3 circle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imi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32968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20-candidate pool limits conclusions</a:t>
            </a:r>
            <a:endParaRPr lang="en-US" sz="1600" dirty="0"/>
          </a:p>
        </p:txBody>
      </p:sp>
      <p:sp>
        <p:nvSpPr>
          <p:cNvPr id="16" name="Limit icon 4 circle"/>
          <p:cNvSpPr/>
          <p:nvPr/>
        </p:nvSpPr>
        <p:spPr>
          <a:xfrm>
            <a:off x="868680" y="5074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Limi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19836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Hive aggregate queries unverified</a:t>
            </a:r>
            <a:endParaRPr lang="en-US" sz="1600" dirty="0"/>
          </a:p>
        </p:txBody>
      </p:sp>
      <p:sp>
        <p:nvSpPr>
          <p:cNvPr id="19" name="Next steps card"/>
          <p:cNvSpPr/>
          <p:nvPr/>
        </p:nvSpPr>
        <p:spPr>
          <a:xfrm>
            <a:off x="6231636" y="1691640"/>
            <a:ext cx="5408676" cy="4297680"/>
          </a:xfrm>
          <a:prstGeom prst="roundRect">
            <a:avLst>
              <a:gd name="adj" fmla="val 2128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Next icon 1 circle"/>
          <p:cNvSpPr/>
          <p:nvPr/>
        </p:nvSpPr>
        <p:spPr>
          <a:xfrm>
            <a:off x="653796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Next icon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404" y="259232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2376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Compare against a popularity baseline</a:t>
            </a:r>
            <a:endParaRPr lang="en-US" sz="1600" dirty="0"/>
          </a:p>
        </p:txBody>
      </p:sp>
      <p:sp>
        <p:nvSpPr>
          <p:cNvPr id="24" name="Next icon 2 circle"/>
          <p:cNvSpPr/>
          <p:nvPr/>
        </p:nvSpPr>
        <p:spPr>
          <a:xfrm>
            <a:off x="653796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Next icon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3461004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2376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Tune rank, regularization, iterations</a:t>
            </a:r>
            <a:endParaRPr lang="en-US" sz="1600" dirty="0"/>
          </a:p>
        </p:txBody>
      </p:sp>
      <p:sp>
        <p:nvSpPr>
          <p:cNvPr id="27" name="Next icon 3 circle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Next icon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404" y="4329684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237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Add a hybrid or popularity fallback</a:t>
            </a:r>
            <a:endParaRPr lang="en-US" sz="1600" dirty="0"/>
          </a:p>
        </p:txBody>
      </p:sp>
      <p:sp>
        <p:nvSpPr>
          <p:cNvPr id="30" name="Next icon 4 circle"/>
          <p:cNvSpPr/>
          <p:nvPr/>
        </p:nvSpPr>
        <p:spPr>
          <a:xfrm>
            <a:off x="6537960" y="5074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Next ico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404" y="5198364"/>
            <a:ext cx="210312" cy="2103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22376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Persist the split and training metrics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45720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93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A working pipeline, </a:t>
            </a:r>
            <a:pPr algn="l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an honest baseline</a:t>
            </a:r>
            <a:endParaRPr lang="en-US" sz="3000" dirty="0"/>
          </a:p>
        </p:txBody>
      </p:sp>
      <p:sp>
        <p:nvSpPr>
          <p:cNvPr id="5" name="Summary card 1"/>
          <p:cNvSpPr/>
          <p:nvPr/>
        </p:nvSpPr>
        <p:spPr>
          <a:xfrm>
            <a:off x="548640" y="1828800"/>
            <a:ext cx="3514039" cy="2926080"/>
          </a:xfrm>
          <a:prstGeom prst="roundRect">
            <a:avLst>
              <a:gd name="adj" fmla="val 3125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965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653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ratings validated and processed across HDFS and Pig</a:t>
            </a:r>
            <a:endParaRPr lang="en-US" sz="1600" dirty="0"/>
          </a:p>
        </p:txBody>
      </p:sp>
      <p:sp>
        <p:nvSpPr>
          <p:cNvPr id="8" name="Summary card 2"/>
          <p:cNvSpPr/>
          <p:nvPr/>
        </p:nvSpPr>
        <p:spPr>
          <a:xfrm>
            <a:off x="4336999" y="1828800"/>
            <a:ext cx="3514039" cy="2926080"/>
          </a:xfrm>
          <a:prstGeom prst="roundRect">
            <a:avLst>
              <a:gd name="adj" fmla="val 3125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1319" y="2103120"/>
            <a:ext cx="2965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698,742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11319" y="3108960"/>
            <a:ext cx="29653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ranked recommendations exposed through Hive</a:t>
            </a:r>
            <a:endParaRPr lang="en-US" sz="1600" dirty="0"/>
          </a:p>
        </p:txBody>
      </p:sp>
      <p:sp>
        <p:nvSpPr>
          <p:cNvPr id="11" name="Summary card 3"/>
          <p:cNvSpPr/>
          <p:nvPr/>
        </p:nvSpPr>
        <p:spPr>
          <a:xfrm>
            <a:off x="8125358" y="1828800"/>
            <a:ext cx="3514039" cy="2926080"/>
          </a:xfrm>
          <a:prstGeom prst="roundRect">
            <a:avLst>
              <a:gd name="adj" fmla="val 3125"/>
            </a:avLst>
          </a:prstGeom>
          <a:solidFill>
            <a:schemeClr val="bg2">
              <a:alpha val="10000"/>
            </a:schemeClr>
          </a:solidFill>
          <a:ln w="9525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9678" y="2103120"/>
            <a:ext cx="2965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99678" y="3108960"/>
            <a:ext cx="29653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improve ranking, add a baseline, make split provenance reproducible</a:t>
            </a:r>
            <a:endParaRPr lang="en-US" sz="1600" dirty="0"/>
          </a:p>
        </p:txBody>
      </p:sp>
      <p:sp>
        <p:nvSpPr>
          <p:cNvPr id="14" name="Table pill"/>
          <p:cNvSpPr/>
          <p:nvPr/>
        </p:nvSpPr>
        <p:spPr>
          <a:xfrm>
            <a:off x="548640" y="5166360"/>
            <a:ext cx="35661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166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movielens.top_recommendations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ynx">
  <a:themeElements>
    <a:clrScheme name="Lynx">
      <a:dk1>
        <a:srgbClr val="17211D"/>
      </a:dk1>
      <a:lt1>
        <a:srgbClr val="F4F6F1"/>
      </a:lt1>
      <a:dk2>
        <a:srgbClr val="0B4650"/>
      </a:dk2>
      <a:lt2>
        <a:srgbClr val="FFFFFF"/>
      </a:lt2>
      <a:accent1>
        <a:srgbClr val="D5F08C"/>
      </a:accent1>
      <a:accent2>
        <a:srgbClr val="7CB342"/>
      </a:accent2>
      <a:accent3>
        <a:srgbClr val="64736C"/>
      </a:accent3>
      <a:accent4>
        <a:srgbClr val="D3DAD5"/>
      </a:accent4>
      <a:accent5>
        <a:srgbClr val="A9CBCB"/>
      </a:accent5>
      <a:accent6>
        <a:srgbClr val="E6EDDD"/>
      </a:accent6>
      <a:hlink>
        <a:srgbClr val="0B4650"/>
      </a:hlink>
      <a:folHlink>
        <a:srgbClr val="64736C"/>
      </a:folHlink>
    </a:clrScheme>
    <a:fontScheme name="Lynx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10M Recommendation Pipeline</dc:title>
  <dc:subject>PptxGenJS Presentation</dc:subject>
  <dc:creator>PptxGenJS</dc:creator>
  <cp:lastModifiedBy>PptxGenJS</cp:lastModifiedBy>
  <cp:revision>1</cp:revision>
  <dcterms:created xsi:type="dcterms:W3CDTF">2026-10-17T11:24:55Z</dcterms:created>
  <dcterms:modified xsi:type="dcterms:W3CDTF">2026-10-17T11:24:55Z</dcterms:modified>
</cp:coreProperties>
</file>